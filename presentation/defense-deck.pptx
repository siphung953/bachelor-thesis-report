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1" r:id="rId14"/>
    <p:sldId id="272" r:id="rId15"/>
    <p:sldId id="273" r:id="rId16"/>
    <p:sldId id="274" r:id="rId17"/>
    <p:sldId id="268" r:id="rId18"/>
    <p:sldId id="275" r:id="rId19"/>
    <p:sldId id="276" r:id="rId20"/>
    <p:sldId id="277" r:id="rId21"/>
    <p:sldId id="279" r:id="rId22"/>
    <p:sldId id="280" r:id="rId23"/>
    <p:sldId id="270" r:id="rId24"/>
    <p:sldId id="281" r:id="rId25"/>
    <p:sldId id="269" r:id="rId26"/>
    <p:sldId id="278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243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5787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~0:30. Hand out the printed copies, greet the council, introduce yourself and the thesis in one sentence. Do not read the title aloud word for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~0:15. One sentence covering all six items. The demo is last on purpose: it is the bridge into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~1:10. Scale first (labour force, 35% hunting), then: platforms are already big, yet hiring is still slow and manual (44 days, posted → offer made). Then pivot: the part of that friction I address is fragmentation. Do NOT say the platform shortens time-to-hire; these are market figures, not my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~0:40. The loop is why the paper and the code agree: every surprise found during implementation was written back into the analysis. If running long, cut this slide and say it in one sentence on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~0:45. Four actors; I focus on the two every recruitment platform needs. The Job Seeker applies, the Employer manages postings and decides, those two modules complete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~1:15. One sentence per container, then the decision that is mine: contract-first. Change a response shape on the server and the client's types change at the next build. Then the request path: controller → service → Prisma; the service re-checks the role even though the route already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~0:40. Point at the lifelines: controller → service → Prisma, the same path as the previous slide. Name the four checks, then the result: SUBMITTED. Don't walk the arrows one by one — the demo shows this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~0:50. Left: a posting starts PENDING_APPROVAL, a moderator approves it to ACTIVE; it can be closed, expire through the hourly sweep, or be deleted; an edit sends it back to moderation. Right: the employer marks an application UNDER_REVIEW, then ACCEPTED or REJECTED. The service enforces every transition; the UI is never trusted. The full review sequence diagram is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~0:50. Numbers, then how: real database, real migrations, reset before each test. Then say the gaps yourself before they ask; the paper lists them in the Results section. Be ready to open one test and explain it line by line (see qa-prep.md).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~0:50. Contribution, then the three personal lessons, then the limitations — said before they ask. End with: 'Let me show you the platform.' and move straight to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sits outside the 10-minute talk and bridges into Q&amp;A. Follow demo-script.md. If a council member interrupts with a question, answer it: that is Q&amp;A starting early. If anything breaks, switch to the screenshots and carry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62ADE-75E8-A72E-5112-3CC1C6B9D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663082-5A92-E66D-594C-CE25ACAC7E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FCD0F-2E36-2A1E-86B2-DDB1F2D59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89076-F604-AB3A-CD4F-33AE2A4573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4300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5D8D-080E-DC25-F144-3B39BF091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77FE45-2318-15F4-59B1-67F1533B9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94B19-2E85-2AC1-C98E-A90A913A0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3D243-1077-3737-6E73-9D0752EEA1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3561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08123-5210-F865-BD21-E79EC0251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58E08F-94A6-1472-4A7A-623E027FC7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25E9D7-1840-70D2-D08A-ADAD9BB24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3E39C-B1F9-92A2-F27C-EAAA2EBEC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159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8BA1B-F5CE-ABBB-7EBB-5F9DE8F86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A3FB4-902D-CEF5-8BB4-3C8B971C7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BB110-D071-C4FC-D796-AE30A941B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A0DCD-E498-FA46-80AA-CC0C32DE14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2895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5C447-EA6C-835C-A0F1-ED400D42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B6FC6-7181-5999-EF31-EFD9CDCDE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796637-F0D7-CE80-6CCD-990A81DD1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7D7B1-9B41-D46D-E9D5-592E0F3DBD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8367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9E992-3E97-F046-3258-C4C8FC491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4D7F0B-4E4A-9E60-15AD-4F3191B7E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D219C9-775D-6B48-BDC4-A0E2EAF616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30B40-6C26-3B58-5197-972E0419D7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5397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B7196-7560-8EDF-9BFE-606BA09AE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D99A4B-E5C6-0F50-2625-C9F80C4DA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791D60-4D0E-AF0C-BE5D-D3EAAD662B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5814C-8022-BD0C-3CE8-E845603E1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364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B827B-3E13-B296-4670-04ECC3AE6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7604EB-6A72-3778-876C-2C1E061471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5FBE10-518B-DCE6-42C2-5C610BC18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67F62-B6CE-DE96-7DFB-F6C0ED29B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7931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8431D-3773-FBC0-BEF8-42630462F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B0B925-F8C2-10CC-6FE9-99E501C0B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DF530D-2726-6D9C-FC1E-4451FFD41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3741FE-B1D6-4C77-F373-9CE5B5E7F2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752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F7355-CD39-7EF3-E4C0-24B17D985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F3D30E-41D1-9296-AF9E-4D3D0B13F6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E0196-874F-2E05-6CBE-79854BEEAC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84314-672E-BB1F-6CBA-8E0B98A12F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8851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EFFAF-AE96-14F3-1549-C6B5C0FA6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3B945C-29C0-3128-B047-58B4BBCD0C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27341-1F01-2468-5724-4B5E25E5D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C4C30-36C0-C2E1-507F-B0B04CD1BE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585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5E34C-EF3C-5506-4206-7F1538FF2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6DD15-1941-AD12-B76C-6C60D8CE7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36AA1A-39AB-2258-F3E6-43B6BF231B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B198C-B679-0CCA-CECB-C501B5690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5289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68468-2E83-AB39-6AED-A1CBF0C5B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A8011-50E4-B0A9-0E73-75E8961115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1BA427-8DB7-CD74-49D3-BDF9993B9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E039-C3DF-503E-8C70-29EFA9DDD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91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D852-45ED-D2A9-FC90-79071656E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FE8F7-49D0-AB49-EB9A-3E4AD71077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0AEF02-6FDA-D80E-6017-019EFBA793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on screen during Q&amp;A. Prepared answers: qa-prep.md — especially Testing (card 6) and Recommendations (card 7).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7C139-37CF-6539-3124-DC8B538FD5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2734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Phung Dam Tien Si\Project\Bachelor Thesis\bachelor-thesis-paper\images\UST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448" y="777240"/>
            <a:ext cx="18288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0" y="205740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THESIS DEFENSE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468880"/>
            <a:ext cx="10362895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and Implementation of a Full-Stack</a:t>
            </a:r>
            <a:endParaRPr lang="en-US" sz="30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Web-Based Recruitment Platform</a:t>
            </a:r>
            <a:endParaRPr lang="en-US" sz="30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Students and Employers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1605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for the recruitment round trip — from application to decision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0" y="48920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Phung Dam Tien Si  ·  23BI14384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949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Supervisor: Eng. Dinh Viet Ha   ·   Internal Supervisor: Prof. Dr. Giang Anh Tuan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0" y="580644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Hanoi,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5449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6692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33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137160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13716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3716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recruitment, and how I worked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280160" y="2048256"/>
            <a:ext cx="9875520" cy="9144"/>
          </a:xfrm>
          <a:prstGeom prst="rect">
            <a:avLst/>
          </a:prstGeom>
          <a:solidFill>
            <a:srgbClr val="DDD9C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1280160" y="2157984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2157984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&amp; Scope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157984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actors, two modules in depth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280160" y="2834640"/>
            <a:ext cx="9875520" cy="9144"/>
          </a:xfrm>
          <a:prstGeom prst="rect">
            <a:avLst/>
          </a:prstGeom>
          <a:solidFill>
            <a:srgbClr val="DDD9C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1280160" y="294436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944368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944368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the two flows of the round trip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280160" y="3621024"/>
            <a:ext cx="9875520" cy="9144"/>
          </a:xfrm>
          <a:prstGeom prst="rect">
            <a:avLst/>
          </a:prstGeom>
          <a:solidFill>
            <a:srgbClr val="DDD9C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1280160" y="3730752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2194560" y="3730752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730752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backend is verified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280160" y="4407408"/>
            <a:ext cx="9875520" cy="9144"/>
          </a:xfrm>
          <a:prstGeom prst="rect">
            <a:avLst/>
          </a:prstGeom>
          <a:solidFill>
            <a:srgbClr val="DDD9C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1280160" y="4517136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2194560" y="4517136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6035040" y="451713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built, what I learned, what comes next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1280160" y="5193792"/>
            <a:ext cx="9875520" cy="9144"/>
          </a:xfrm>
          <a:prstGeom prst="rect">
            <a:avLst/>
          </a:prstGeom>
          <a:solidFill>
            <a:srgbClr val="DDD9C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1280160" y="530352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53035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→ Q&amp;A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0" y="529437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- WHY RECRUITMENT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5449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53166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large, active market - still fragmented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502920" y="1280160"/>
            <a:ext cx="356616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02920" y="1444752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52.9 M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157984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in Vietnam's labour force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76148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Statistics Office, 2024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88536" y="1280160"/>
            <a:ext cx="356616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288536" y="1444752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4471416" y="2157984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Vietnamese professionals actively job-hunting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25696" y="276148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Page Vietnam, 2023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74152" y="1280160"/>
            <a:ext cx="356616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8074152" y="1444752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 days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8257032" y="2157984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from a job being posted to an offer being made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276148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 &amp; The Josh Bersin Company, 2023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383280"/>
            <a:ext cx="11137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are already big: </a:t>
            </a:r>
            <a:r>
              <a:rPr lang="en-US" sz="1450" dirty="0" err="1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TopCV</a:t>
            </a:r>
            <a:r>
              <a:rPr lang="en-US" sz="145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alone reports 8M+ candidate profiles and 540,000+ employers (TopCV, 2023) - yet hiring remains slow and largely manual.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02920" y="4343400"/>
            <a:ext cx="11137392" cy="160020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02920" y="4343400"/>
            <a:ext cx="91440" cy="160020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868680" y="44805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FRICTION I FOCUS ON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4800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the same profile and resume on every site, then check each one separately.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 postings, applications and decisions together by hand.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- HOW I WORKED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5449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58860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use-case-driven loop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31089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5800" y="1417320"/>
            <a:ext cx="3108960" cy="82296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6868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Document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207568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specifications, class and sequence diagrams for one group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04488" y="2217420"/>
            <a:ext cx="502920" cy="0"/>
          </a:xfrm>
          <a:prstGeom prst="line">
            <a:avLst/>
          </a:prstGeom>
          <a:noFill/>
          <a:ln w="25400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17136" y="1417320"/>
            <a:ext cx="31089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17136" y="1417320"/>
            <a:ext cx="3108960" cy="82296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4700016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Implement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700016" y="207568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first, then the frontend that consumes 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35824" y="2217420"/>
            <a:ext cx="502920" cy="0"/>
          </a:xfrm>
          <a:prstGeom prst="line">
            <a:avLst/>
          </a:prstGeom>
          <a:noFill/>
          <a:ln w="25400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31089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348472" y="1417320"/>
            <a:ext cx="3108960" cy="82296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8531352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Write back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531352" y="207568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unexpected becomes a documented use case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902952" y="3017520"/>
            <a:ext cx="0" cy="411480"/>
          </a:xfrm>
          <a:prstGeom prst="line">
            <a:avLst/>
          </a:prstGeom>
          <a:noFill/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240280" y="3429000"/>
            <a:ext cx="7662672" cy="0"/>
          </a:xfrm>
          <a:prstGeom prst="line">
            <a:avLst/>
          </a:prstGeom>
          <a:noFill/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240280" y="3017520"/>
            <a:ext cx="0" cy="411480"/>
          </a:xfrm>
          <a:prstGeom prst="line">
            <a:avLst/>
          </a:prstGeom>
          <a:noFill/>
          <a:ln w="25400">
            <a:solidFill>
              <a:srgbClr val="C62828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2240280" y="3474720"/>
            <a:ext cx="7662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for each group: profile · resume · job application · employer · back office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4480560"/>
            <a:ext cx="5477256" cy="123444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02920" y="4480560"/>
            <a:ext cx="91440" cy="1234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822960" y="4617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from the fundamentals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98348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my internship I first studied the Software Development Life Cycle, then applied it to this project.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63056" y="4480560"/>
            <a:ext cx="5477256" cy="123444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163056" y="4480560"/>
            <a:ext cx="91440" cy="1234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 txBox="1"/>
          <p:nvPr/>
        </p:nvSpPr>
        <p:spPr>
          <a:xfrm>
            <a:off x="6483096" y="4617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Backend-first, on purpose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483096" y="498348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goal is to learn Backend Engineering skills, so the business rules were built and tested first.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&amp; SCOPE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5449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58212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 for the whole round trip</a:t>
            </a:r>
            <a:endParaRPr lang="en-US" sz="3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1234440"/>
            <a:ext cx="57607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Guest: a visitor - search jobs, see companies and their jobs, no account needed.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Seeker: search, apply with a resume, track and withdraw applications; recommendations ranked on stated preferences.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Employer: company profile, job postings through their lifecycle, review applications to a decision.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Worker: moderate postings, manage users, read audit logs.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4206240"/>
            <a:ext cx="5760720" cy="178308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4206240"/>
            <a:ext cx="91440" cy="178308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822960" y="434340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MODULES IN DEPTH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45152"/>
            <a:ext cx="5257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Application (Job Seeker)  +  Employer Job Management (Employer) together makes the recruitment round trip.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3949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modules built in total; the other five are implemented and summarized in the paper.</a:t>
            </a:r>
            <a:endParaRPr lang="en-US" sz="1200" dirty="0"/>
          </a:p>
        </p:txBody>
      </p:sp>
      <p:pic>
        <p:nvPicPr>
          <p:cNvPr id="16" name="Image 0" descr="C:\Users\Phung Dam Tien Si\Project\Bachelor Thesis\bachelor-thesis-paper\images\defense\C1! System Context 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325880"/>
            <a:ext cx="5166360" cy="3191081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492240" y="461772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context: four actors around one platform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- ARCHITECTURE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5449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19" y="360627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containers, one contract</a:t>
            </a:r>
            <a:endParaRPr lang="en-US" sz="3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1234440"/>
            <a:ext cx="73152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Web App: React 19 + Vite single-page app (Tailwind, shadcn/ui).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API: Express 5 + TypeScript; every business rule lives here.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Database: PostgreSQL, accessed through the Prisma ORM.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017520"/>
            <a:ext cx="7315200" cy="118872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3017520"/>
            <a:ext cx="91440" cy="11887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822960" y="3136392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Contract-first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474720"/>
            <a:ext cx="6812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tsoa generates the OpenAPI spec and the routes from annotated controllers; the frontend's typed API client is generated from the same spec so the two sides cannot drift apart.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4434840"/>
            <a:ext cx="7315200" cy="118872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91440" cy="11887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553712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takes the same path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92040"/>
            <a:ext cx="6812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→ Controller → Service → Prisma. Controllers stay thin; services own the rules and re-check the caller's role (defense in depth).</a:t>
            </a:r>
            <a:endParaRPr lang="en-US" sz="1300" dirty="0"/>
          </a:p>
        </p:txBody>
      </p:sp>
      <p:pic>
        <p:nvPicPr>
          <p:cNvPr id="19" name="Image 0" descr="C:\Users\Phung Dam Tien Si\Project\Bachelor Thesis\bachelor-thesis-paper\images\defense\C2! Container 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823" y="1188720"/>
            <a:ext cx="2976555" cy="475488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229600" y="598932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C2: three containers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- ROUND TRIP: Job Seeker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5449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54433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Job Seeker applies for a job</a:t>
            </a:r>
            <a:endParaRPr lang="en-US" sz="3300" dirty="0"/>
          </a:p>
        </p:txBody>
      </p:sp>
      <p:pic>
        <p:nvPicPr>
          <p:cNvPr id="10" name="Image 0" descr="C:\Users\Phung Dam Tien Si\Project\Bachelor Thesis\bachelor-thesis-paper\images\defense\SD-JobSeeker01-Apply-For-Jobs_Si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54" y="1220792"/>
            <a:ext cx="10842859" cy="46105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 8"/>
          <p:cNvSpPr txBox="1"/>
          <p:nvPr/>
        </p:nvSpPr>
        <p:spPr>
          <a:xfrm>
            <a:off x="2358543" y="5905756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 (happy path): Job Seeker’s Apply for Job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- ROUND TRIP: Employer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5449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55172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Employer manages postings and decides</a:t>
            </a:r>
            <a:endParaRPr lang="en-US" sz="33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C36D9-7ADD-437B-805F-962163BA8EFE}"/>
              </a:ext>
            </a:extLst>
          </p:cNvPr>
          <p:cNvSpPr txBox="1"/>
          <p:nvPr/>
        </p:nvSpPr>
        <p:spPr>
          <a:xfrm>
            <a:off x="2358543" y="6022065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 (happy path): Employer’s Review Application</a:t>
            </a:r>
            <a:endParaRPr lang="en-US" sz="115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9C581E0-2957-190C-AEDE-4015C9CCB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33236"/>
            <a:ext cx="11099533" cy="50802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5449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54372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backend is verified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502920" y="1234440"/>
            <a:ext cx="35661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02920" y="13716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02996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cases, 0 failures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suite runs in ~30 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88536" y="1234440"/>
            <a:ext cx="35661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288536" y="13716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4425696" y="202996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25696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→ real PostgreSQL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74152" y="1234440"/>
            <a:ext cx="35661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8074152" y="13716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8211312" y="202996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 scoring, no database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154680"/>
            <a:ext cx="11155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_test database, built from the real migrations and emptied before every test.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traceability: each tested rule is mapped to its use case and its test.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02920" y="4572000"/>
            <a:ext cx="11137392" cy="141732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02920" y="4572000"/>
            <a:ext cx="91440" cy="14173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868680" y="46817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COVERED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49834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employer's application review, profile management and password reset have no automated tests yet; the React UI is checked by hand; no load or concurrency testing.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5449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19" y="342339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built, what I learned</a:t>
            </a:r>
            <a:endParaRPr lang="en-US" sz="3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645920"/>
            <a:ext cx="56692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platform for the recruitment round trip.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job recommendations, ranked on the seeker's stated preferences.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passing tests, traced back to the use cases they verify.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11887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46520" y="1645920"/>
            <a:ext cx="5212080" cy="73152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46520" y="1645920"/>
            <a:ext cx="82296" cy="7315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720840" y="173736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surprises back keeps the documents and the code honest.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46520" y="2514600"/>
            <a:ext cx="5212080" cy="73152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46520" y="2514600"/>
            <a:ext cx="82296" cy="7315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720840" y="260604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contract removes drift between two codebases.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46520" y="3383280"/>
            <a:ext cx="5212080" cy="73152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46520" y="3383280"/>
            <a:ext cx="82296" cy="7315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6720840" y="347472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Backend-first builds the core that every screen depends on.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11137392" cy="132588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91440" cy="132588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868680" y="4773168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prototype run locally (not deployed and used by real users, not load-tested).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· employer-applicant messaging · deployment &amp; scale · a mobile app.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→ Q&amp;A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5449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19" y="356616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one application, end to end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502920" y="1280160"/>
            <a:ext cx="35661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280160"/>
            <a:ext cx="3566160" cy="82296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85800" y="1508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Job Seeker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1920240"/>
            <a:ext cx="32004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recommendations, each with its reason → open “Backend Engineer” → apply with a saved resume → SUBMITTED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88536" y="1280160"/>
            <a:ext cx="35661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88536" y="1280160"/>
            <a:ext cx="3566160" cy="82296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471416" y="1508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Employer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471416" y="1920240"/>
            <a:ext cx="32004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same posting → find the new application → mark UNDER_REVIEW → ACCEPT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74152" y="1280160"/>
            <a:ext cx="35661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074152" y="1280160"/>
            <a:ext cx="3566160" cy="82296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8257032" y="1508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Back to the seeker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57032" y="1920240"/>
            <a:ext cx="32004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Applications now reads ACCEPTED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" y="3977640"/>
            <a:ext cx="11137392" cy="868680"/>
          </a:xfrm>
          <a:prstGeom prst="rect">
            <a:avLst/>
          </a:prstGeom>
          <a:solidFill>
            <a:srgbClr val="F0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3977640"/>
            <a:ext cx="91440" cy="86868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868680" y="406908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locally: API on :3000 (Swagger UI at /docs) · web app on :5173 · seeded data - 3 companies, 12 postings.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5212080"/>
            <a:ext cx="11137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5A56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are welcome during the demo.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2588"/>
            <a:ext cx="77724" cy="7772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6858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B8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0" y="233172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5A5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welcome.</a:t>
            </a:r>
            <a:endParaRPr lang="en-US" sz="1900" dirty="0"/>
          </a:p>
        </p:txBody>
      </p:sp>
      <p:pic>
        <p:nvPicPr>
          <p:cNvPr id="10" name="Image 0" descr="C:\Users\Phung Dam Tien Si\Project\Bachelor Thesis\bachelor-thesis-paper\images\UST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8" y="438912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D30D34-9D06-E45C-5A98-139148E2E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65456B-A9E0-82BF-8629-FB78010650A8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998F972-C647-A99C-CD15-C37962D08520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805CB15-1E31-3F53-C5F6-1C459BFEF233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FD322D6-128F-AB91-9903-767476A31B52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FB8A94-E23E-AF0C-1780-7EAD5F117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2057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A7C03-EEDE-6941-6903-809ED566B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89C5CAB-9373-CF22-5C4C-2D16AA13C902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A63F29F-C772-40C2-4443-D73F3B0603BB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EE292E-00BA-87C4-4E18-BE3047AC2E2C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E3BBBA-75E4-330D-3E3C-5B78002CC893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5A3D02-3F2E-268A-8FE5-F8B89F257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685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D6042F-274A-FB3D-6B57-658CCE2CD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6D0D9EA-0297-C2CD-24D1-D005A8936E66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6BD1F69-E171-E61A-23E2-7906AF834488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7AADB9F-EFFA-C23B-5C69-B9F2E47C7815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C4A44D3-5C9A-60B5-BB2A-0438CF343E0E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DBA21A-48F9-67A9-82B9-8648504B7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413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7B2372-24FD-8204-8C54-311AB29A1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46E103-B956-5B12-24DC-538D6FF54C40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0F6DA50-4160-ABF8-39BA-6473DD19C2C4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F78E114-38B7-7BD0-861B-ADFC157FD040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7222701-2CA3-E4E2-106C-B15E10B5ED8B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6836A7-4E86-2E90-F9E2-A670D6F98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9408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572A28-6AFB-8BC0-E219-5D8EB9081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A21BBE4-69EF-726F-8949-34B9AB9C8C02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7326A7E-74DB-17F6-CADD-D4D93014CC6D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F1E9F8A-DB39-636F-E87A-9E6A53EAD5D2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DB88DDF-454C-D65E-B943-FDD61A807A7E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CB278B3-0D51-2C88-7D3C-1DB366E50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5908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6F6AC1-DDC7-8849-D625-95C264305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E6932CE-8CFA-02A4-9A5E-7449754116A7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541843D-EAAC-1E41-873F-A46A419764C1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2DC7618-4CC4-BA70-E137-16F6633A258D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C89544A-93EB-21C7-936F-4371E80D76C5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CCC121-764C-F177-48E6-490C565D1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770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1BEF5-2163-9830-D03E-38B24D811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2C586D-FB91-00E6-078A-09DF468F457B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8078A8E-6814-DCB7-1B48-4BACB4F149D5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3847759-C593-8ED5-5A03-3E944BC9D833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AAD2E62-06FA-2385-04EE-9D07BAEEF33F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FDBFC9-F904-18FD-BD32-2A98A90F4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972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AC156F-0C00-7513-13B3-138DCC6F3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741F38D-CD71-D82F-0FFD-07FA4052F54C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E85C926-11F2-B5D0-1963-9545915AF8C0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DA086B3-3BE2-D4F2-D0BE-A75A4CB754E1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2002DE9-232A-3F01-B6FA-1E28F97285D7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9590B7-7E9F-4A99-04E5-D44770C16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714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D270C-0F36-D20A-B3F7-6513DD421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560119A-B1AC-A83A-D205-BCBC45C34103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3C0CF46-E62B-507B-7BAB-2916683D65F9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BD21DA-CB37-71A8-273F-091EE0AB0981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44E28F3-F5E4-6311-86B7-51B2B407430A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50D477-B87D-DCF2-F63B-C3E42F832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0204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E41B12-7654-ABD3-1C6A-F3BFEEB2C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0770E7D-46DD-F30C-679D-1106AACA74EF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6B5B5A-FF57-266D-4412-DBDBE60E5211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2D34C3E-B3AD-F1D1-FBA8-53B7B4D482B7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8BE954D-9240-6D9B-00EE-B66E08DA451E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5190EA-247B-56F1-FCEC-9FA3B73D4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2924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BE9C16-0931-9A4D-B28F-9489B128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8C09435-AD9A-3AFB-C791-CBC83C5198A2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B55E28C-1C42-22DC-07ED-7A0590B4CC60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1CA39F-DC91-8DF1-C18A-A83B546F8187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FD92806-1BC1-B003-661D-67705FCAA103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19C0C75-8D6E-8F3F-CFB9-39E68FA66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5343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93C367-534B-89C0-5777-308E1B949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64C05E7-3468-AA61-2D71-62659FD09538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457346A-D440-2063-9D36-C61ADEC31001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2EB18EA-30DA-7DA1-9C32-2AE20F27CA25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FF8B1C5-3B0F-6126-975B-CB17E264CE36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B0C673-59FD-7D1D-B6AC-79EC520BD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4002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BFDE39-DDED-6472-7C41-28471A35D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93B5E68-718E-D52D-AF98-3D0AD74BC8F4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B757AB0-3CFF-2A8B-4985-37643CD362A7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E81B2FD-1802-FFD3-D6B6-EDA98A95E3E2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2DDE3A1-FE05-3AF6-8254-3C48CB6D9DE1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ADEAA1-C985-57E3-B600-A0B5DE94F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774" y="0"/>
            <a:ext cx="13273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5250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FD8F2D-400B-341B-87A4-424BFBC65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CBBC6A-58F7-65C3-65AB-4D77B0DC6EF2}"/>
              </a:ext>
            </a:extLst>
          </p:cNvPr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18B0C2-B0AC-5B90-9DA1-3663E5B5BAE3}"/>
              </a:ext>
            </a:extLst>
          </p:cNvPr>
          <p:cNvSpPr/>
          <p:nvPr/>
        </p:nvSpPr>
        <p:spPr>
          <a:xfrm>
            <a:off x="0" y="27432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DAF9980-507F-0DE5-A3E3-A5C1B541530E}"/>
              </a:ext>
            </a:extLst>
          </p:cNvPr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1F9F0DE-79F1-2FDF-C971-58C147EDC1E3}"/>
              </a:ext>
            </a:extLst>
          </p:cNvPr>
          <p:cNvSpPr/>
          <p:nvPr/>
        </p:nvSpPr>
        <p:spPr>
          <a:xfrm>
            <a:off x="0" y="6492240"/>
            <a:ext cx="1371600" cy="9144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17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1446</TotalTime>
  <Words>1957</Words>
  <Application>Microsoft Office PowerPoint</Application>
  <PresentationFormat>Widescreen</PresentationFormat>
  <Paragraphs>183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Thesis Defense — Recruitment Platform</dc:title>
  <dc:subject>PptxGenJS Presentation</dc:subject>
  <dc:creator>Phung Dam Tien Si</dc:creator>
  <cp:lastModifiedBy>Tien Si Phung</cp:lastModifiedBy>
  <cp:revision>4</cp:revision>
  <dcterms:created xsi:type="dcterms:W3CDTF">2026-09-29T21:55:53Z</dcterms:created>
  <dcterms:modified xsi:type="dcterms:W3CDTF">2026-09-30T22:02:35Z</dcterms:modified>
</cp:coreProperties>
</file>