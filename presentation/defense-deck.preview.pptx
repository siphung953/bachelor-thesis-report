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~0:30. Hand out the printed copies, greet the council, introduce yourself and the thesis in one sentence. Do not read the title aloud word for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~0:15. One sentence covering all six items. The demo is last on purpose: it is the bridge into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~1:10. Scale first (labour force, 35% hunting), then: platforms are already big, yet hiring is still slow and manual (44 days, posted → offer made). Then pivot: the part of that friction I address is fragmentation. Do NOT say the platform shortens time-to-hire; these are market figures, not my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~0:40. The loop is why the paper and the code agree: every surprise found during implementation was written back into the analysis. If running long, cut this slide and say it in one sentence on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~0:45. Four actors; I focus on the two every recruitment platform needs. The Job Seeker applies, the Employer manages postings and decides — those two modules complete each other. Everything else is built and summarized.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~1:15. One sentence per container, then the decision that is mine: contract-first. Change a response shape on the server and the client's types change at the next build. Then the request path: controller → service → Prisma; the service re-checks the role even though the route already did.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~0:40. Point at the lifelines: controller → service → Prisma, the same path as the previous slide. Name the four checks, then the result: SUBMITTED. Don't walk the arrows one by one — the demo shows this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~0:50. Left: a posting starts PENDING_APPROVAL, a moderator approves it to ACTIVE; it can be closed, expire through the daily sweep, or be deleted; an edit sends it back to moderation. Right: the employer marks an application UNDER_REVIEW, then ACCEPTED or REJECTED. The service enforces every transition; the UI is never trusted. The full review sequence diagram is in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~0:50. Numbers, then how: real database, real migrations, reset before each test. Then say the gaps yourself before they ask; the paper lists them in the Results section. Be ready to open one test and explain it line by line (see qa-prep.md).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~0:50. Contribution, then the three personal lessons, then the limitations — said before they ask. End with: 'Let me show you the platform.' and move straight to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sits outside the 10-minute talk and bridges into Q&amp;A. Follow demo-script.md. If a council member interrupts with a question, answer it: that is Q&amp;A starting early. If anything breaks, switch to the screenshots and carry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on screen during Q&amp;A. Prepared answers: qa-prep.md — especially Testing (card 6) and Recommendations (card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pic>
        <p:nvPicPr>
          <p:cNvPr id="6" name="Image 0" descr="C:\Users\Phung Dam Tien Si\Project\Bachelor Thesis\bachelor-thesis-paper\images\UST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448" y="777240"/>
            <a:ext cx="1828800" cy="914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0" y="205740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THESIS DEFENSE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468880"/>
            <a:ext cx="10362895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Implementation of a Full-Stack</a:t>
            </a:r>
            <a:endParaRPr lang="en-US" sz="30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Web-Based Recruitment Platform</a:t>
            </a:r>
            <a:endParaRPr lang="en-US" sz="30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Students and Employers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16052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the recruitment round trip — from application to decision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Phung Dam Tien Si  ·  23BI14384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539496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Supervisor: Eng. Dinh Viet Ha   ·   Internal Supervisor: Prof. Dr. Giang Anh Tuan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0" y="58064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Hanoi,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"/>
            <a:ext cx="77724" cy="777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6858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544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6692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33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3716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13716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3716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recruitment, and how I worked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80160" y="2048256"/>
            <a:ext cx="9875520" cy="9144"/>
          </a:xfrm>
          <a:prstGeom prst="rect">
            <a:avLst/>
          </a:prstGeom>
          <a:solidFill>
            <a:srgbClr val="DDD9C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215798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215798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&amp; Scope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15798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actors, two modules in depth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80160" y="2834640"/>
            <a:ext cx="9875520" cy="9144"/>
          </a:xfrm>
          <a:prstGeom prst="rect">
            <a:avLst/>
          </a:prstGeom>
          <a:solidFill>
            <a:srgbClr val="DDD9C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80160" y="294436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294436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294436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the two flows of the round trip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280160" y="3621024"/>
            <a:ext cx="9875520" cy="9144"/>
          </a:xfrm>
          <a:prstGeom prst="rect">
            <a:avLst/>
          </a:prstGeom>
          <a:solidFill>
            <a:srgbClr val="DDD9C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80160" y="373075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2194560" y="37307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373075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backend is verified — and what is not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280160" y="4407408"/>
            <a:ext cx="9875520" cy="9144"/>
          </a:xfrm>
          <a:prstGeom prst="rect">
            <a:avLst/>
          </a:prstGeom>
          <a:solidFill>
            <a:srgbClr val="DDD9C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80160" y="451713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2194560" y="451713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6035040" y="451713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built, what I learned, what comes next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280160" y="5193792"/>
            <a:ext cx="9875520" cy="9144"/>
          </a:xfrm>
          <a:prstGeom prst="rect">
            <a:avLst/>
          </a:prstGeom>
          <a:solidFill>
            <a:srgbClr val="DDD9C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280160" y="53035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2194560" y="53035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→ Q&amp;A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6035040" y="53035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application, end to end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"/>
            <a:ext cx="77724" cy="777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6858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WHY RECRUITMENT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544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6692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active market — still fragmented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502920" y="128016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44475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52.9 M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15798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 Vietnam's labour force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76148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Statistics Office, 2024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88536" y="128016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88536" y="144475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4471416" y="215798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Vietnamese professionals actively job-hunting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25696" y="276148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Page Vietnam, 2023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74152" y="128016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74152" y="144475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 days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257032" y="215798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from a job being posted to an offer being made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11312" y="276148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&amp; The Josh Bersin Company, 2023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383280"/>
            <a:ext cx="11137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already operate at this scale — TopCV alone reports 8M+ candidate profiles and 540,000+ employers (TopCV, 2023) — yet hiring remains slow and largely manual.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02920" y="4343400"/>
            <a:ext cx="11137392" cy="160020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4343400"/>
            <a:ext cx="91440" cy="1600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44805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FRICTION I FOCUS 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48006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the same profile and resume on every site, then check each one separately.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postings, applications and decisions together by hand.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"/>
            <a:ext cx="77724" cy="777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6858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HOW I WORKED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544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6692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use-case-driven loop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685800" y="1417320"/>
            <a:ext cx="31089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417320"/>
            <a:ext cx="3108960" cy="8229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Document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07568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cases, specifications, class and sequence diagrams for one group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04488" y="2217420"/>
            <a:ext cx="502920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17136" y="1417320"/>
            <a:ext cx="31089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17136" y="1417320"/>
            <a:ext cx="3108960" cy="8229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00016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Implement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700016" y="207568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first, then the frontend that consumes 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35824" y="2217420"/>
            <a:ext cx="502920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348472" y="1417320"/>
            <a:ext cx="31089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48472" y="1417320"/>
            <a:ext cx="3108960" cy="8229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31352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Write back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531352" y="207568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unexpected becomes a documented use case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902952" y="3017520"/>
            <a:ext cx="0" cy="41148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40280" y="3429000"/>
            <a:ext cx="7662672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017520"/>
            <a:ext cx="0" cy="41148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  <a:head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240280" y="3474720"/>
            <a:ext cx="7662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each group: profile · resume · job application · employer · back office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480560"/>
            <a:ext cx="5477256" cy="123444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" y="4480560"/>
            <a:ext cx="91440" cy="1234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46177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from the fundamentals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983480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my internship I first studied the Software Development Life Cycle, then applied it to this project.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63056" y="4480560"/>
            <a:ext cx="5477256" cy="123444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33" name="Shape 31"/>
          <p:cNvSpPr/>
          <p:nvPr/>
        </p:nvSpPr>
        <p:spPr>
          <a:xfrm>
            <a:off x="6163056" y="4480560"/>
            <a:ext cx="91440" cy="1234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83096" y="46177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Backend-first, on purpose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483096" y="4983480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goal is to learn Backend Engineering skills, so the business rules were built and tested first.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"/>
            <a:ext cx="77724" cy="777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6858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&amp; SCOPE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544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6692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for the whole round trip</a:t>
            </a:r>
            <a:endParaRPr lang="en-US" sz="3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234440"/>
            <a:ext cx="57607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Guest: a visitor — search jobs, see companies and their jobs, no account needed.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Seeker: search, apply with a resume, track and withdraw applications; recommendations ranked on stated preferences.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Employer: company profile, job postings through their lifecycle, review applications to a decision.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Worker: moderate postings, manage users, read audit logs.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206240"/>
            <a:ext cx="5760720" cy="178308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4206240"/>
            <a:ext cx="91440" cy="17830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3434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MODULES IN DEPTH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45152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(Job Seeker)  +  Employer Job Management (Employer) — together, the recruitment round trip.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3949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 built in total; the other five are implemented and summarized in the paper.</a:t>
            </a:r>
            <a:endParaRPr lang="en-US" sz="1200" dirty="0"/>
          </a:p>
        </p:txBody>
      </p:sp>
      <p:pic>
        <p:nvPicPr>
          <p:cNvPr id="16" name="Image 0" descr="C:\Users\Phung Dam Tien Si\Project\Bachelor Thesis\bachelor-thesis-paper\images\defense\C1! System Context 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325880"/>
            <a:ext cx="5166360" cy="3191081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492240" y="461772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context — four actors around one platform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"/>
            <a:ext cx="77724" cy="777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6858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— ARCHITECTURE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544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6692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containers, one contract</a:t>
            </a:r>
            <a:endParaRPr lang="en-US" sz="3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234440"/>
            <a:ext cx="73152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 App — React 19 + Vite single-page app (Tailwind, shadcn/ui).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— Express 5 + TypeScript; every business rule lives here.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PostgreSQL, accessed through the Prisma ORM.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017520"/>
            <a:ext cx="7315200" cy="118872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3017520"/>
            <a:ext cx="91440" cy="1188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13639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Contract-first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474720"/>
            <a:ext cx="6812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tsoa generates the OpenAPI spec and the routes from annotated controllers; the frontend's typed API client is generated from the same spec — the two sides cannot drift apart.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434840"/>
            <a:ext cx="7315200" cy="118872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4434840"/>
            <a:ext cx="91440" cy="1188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55371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takes the same path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92040"/>
            <a:ext cx="6812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→ Controller → Service → Prisma. Controllers stay thin; services own the rules and re-check the caller's role (defense in depth).</a:t>
            </a:r>
            <a:endParaRPr lang="en-US" sz="1300" dirty="0"/>
          </a:p>
        </p:txBody>
      </p:sp>
      <p:pic>
        <p:nvPicPr>
          <p:cNvPr id="19" name="Image 0" descr="C:\Users\Phung Dam Tien Si\Project\Bachelor Thesis\bachelor-thesis-paper\images\defense\C2! Container 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5823" y="1188720"/>
            <a:ext cx="2976555" cy="475488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229600" y="59893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— three containers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"/>
            <a:ext cx="77724" cy="777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6858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— ROUND TRIP ①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544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6692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Job Seeker applies for a job</a:t>
            </a:r>
            <a:endParaRPr lang="en-US" sz="3300" dirty="0"/>
          </a:p>
        </p:txBody>
      </p:sp>
      <p:pic>
        <p:nvPicPr>
          <p:cNvPr id="10" name="Image 0" descr="C:\Users\Phung Dam Tien Si\Project\Bachelor Thesis\bachelor-thesis-paper\images\defense\SD-JobSeeker01-Apply-For-Jobs_Si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7498080" cy="364692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02920" y="515568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happy path, modeled before implementation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75320" y="1325880"/>
            <a:ext cx="338328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58200" y="14630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creating the application, the service checks: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458200" y="214884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posting is ACTIVE (approved)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deadline has not passed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resume belongs to this seeker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earlier application to this posting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458200" y="4526280"/>
            <a:ext cx="3017520" cy="9144"/>
          </a:xfrm>
          <a:prstGeom prst="rect">
            <a:avLst/>
          </a:prstGeom>
          <a:solidFill>
            <a:srgbClr val="DDD9C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58200" y="4663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35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Created, stored as </a:t>
            </a:r>
            <a:pPr indent="0" marL="0">
              <a:buNone/>
            </a:pPr>
            <a:r>
              <a:rPr lang="en-US" sz="13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8458200" y="51206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failed check is refused with an error; nothing is written.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"/>
            <a:ext cx="77724" cy="777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6858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— ROUND TRIP ②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544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6692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Employer manages postings and decides</a:t>
            </a:r>
            <a:endParaRPr lang="en-US" sz="3300" dirty="0"/>
          </a:p>
        </p:txBody>
      </p:sp>
      <p:pic>
        <p:nvPicPr>
          <p:cNvPr id="10" name="Image 0" descr="C:\Users\Phung Dam Tien Si\Project\Bachelor Thesis\bachelor-thesis-paper\images\defense\StatechartDiagra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6400800" cy="452033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02920" y="5809643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 lifecycle — moderated before it goes live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269480" y="1234440"/>
            <a:ext cx="438912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an application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412480" y="1920240"/>
            <a:ext cx="2103120" cy="502920"/>
          </a:xfrm>
          <a:prstGeom prst="roundRect">
            <a:avLst>
              <a:gd name="adj" fmla="val 21818"/>
            </a:avLst>
          </a:prstGeom>
          <a:solidFill>
            <a:srgbClr val="F0EEE6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0" y="19202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464040" y="2423160"/>
            <a:ext cx="0" cy="54864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9573768" y="254203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opens it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412480" y="2971800"/>
            <a:ext cx="2103120" cy="502920"/>
          </a:xfrm>
          <a:prstGeom prst="roundRect">
            <a:avLst>
              <a:gd name="adj" fmla="val 21818"/>
            </a:avLst>
          </a:prstGeom>
          <a:solidFill>
            <a:srgbClr val="F0EEE6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12480" y="2971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UNDER_REVIEW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464040" y="3474720"/>
            <a:ext cx="0" cy="54864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9573768" y="359359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decides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412480" y="4023360"/>
            <a:ext cx="210312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98080" y="4160520"/>
            <a:ext cx="1828800" cy="502920"/>
          </a:xfrm>
          <a:prstGeom prst="roundRect">
            <a:avLst>
              <a:gd name="adj" fmla="val 21818"/>
            </a:avLst>
          </a:prstGeom>
          <a:solidFill>
            <a:srgbClr val="C62828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98080" y="4160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601200" y="4160520"/>
            <a:ext cx="1828800" cy="502920"/>
          </a:xfrm>
          <a:prstGeom prst="roundRect">
            <a:avLst>
              <a:gd name="adj" fmla="val 21818"/>
            </a:avLst>
          </a:prstGeom>
          <a:solidFill>
            <a:srgbClr val="C62828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601200" y="4160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498080" y="4937760"/>
            <a:ext cx="3931920" cy="9144"/>
          </a:xfrm>
          <a:prstGeom prst="rect">
            <a:avLst/>
          </a:prstGeom>
          <a:solidFill>
            <a:srgbClr val="DDD9C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498080" y="50292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it is still SUBMITTED, the seeker may WITHDRAW it. Only the posting's owner can move an application, and the service refuses any other transition (409).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"/>
            <a:ext cx="77724" cy="777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6858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544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6692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backend is verified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502920" y="1234440"/>
            <a:ext cx="35661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371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029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cases, 0 failures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suite runs in ~30 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88536" y="1234440"/>
            <a:ext cx="35661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88536" y="1371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4425696" y="2029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25696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→ real PostgreSQL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74152" y="1234440"/>
            <a:ext cx="35661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74152" y="1371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211312" y="2029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11312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 scoring, no database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154680"/>
            <a:ext cx="11155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_test database, built from the real migrations and emptied before every test — no mocks.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traceability: each tested rule is mapped to its use case and its test (full matrix in the paper).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572000"/>
            <a:ext cx="11137392" cy="141732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4572000"/>
            <a:ext cx="91440" cy="1417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46817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COVERED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49834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employer's application review, profile management and password reset have no automated tests yet; the React UI is checked by hand; no load or concurrency testing.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"/>
            <a:ext cx="77724" cy="777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6858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544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6692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built, what I learned</a:t>
            </a:r>
            <a:endParaRPr lang="en-US" sz="3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645920"/>
            <a:ext cx="5669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platform for the recruitment round trip — application to decision — in one contract-first monorepo.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job recommendations, ranked on the seeker's stated preferences.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passing tests, traced back to the use cases they verify.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188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520" y="1645920"/>
            <a:ext cx="5212080" cy="73152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14" name="Shape 12"/>
          <p:cNvSpPr/>
          <p:nvPr/>
        </p:nvSpPr>
        <p:spPr>
          <a:xfrm>
            <a:off x="6446520" y="1645920"/>
            <a:ext cx="82296" cy="7315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173736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surprises back keeps the documents and the code honest.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46520" y="2514600"/>
            <a:ext cx="5212080" cy="73152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2514600"/>
            <a:ext cx="82296" cy="7315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260604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generated contract removes drift between two codebases.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46520" y="3383280"/>
            <a:ext cx="5212080" cy="73152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3383280"/>
            <a:ext cx="82296" cy="7315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20840" y="347472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Backend-first builds the core that every screen depends on.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11137392" cy="132588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4663440"/>
            <a:ext cx="91440" cy="13258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4773168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run locally — not deployed, not used by real users, not load-tested.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· employer–applicant messaging · deployment &amp; scale · a mobile app.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"/>
            <a:ext cx="77724" cy="777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6858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→ Q&amp;A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544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66928"/>
            <a:ext cx="1118585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one application, end to end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502920" y="1280160"/>
            <a:ext cx="35661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280160"/>
            <a:ext cx="3566160" cy="8229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Job Seeker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1920240"/>
            <a:ext cx="32004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recommendations, each with its reason → open “Backend Engineer” → apply with a saved resume → SUBMITTED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88536" y="1280160"/>
            <a:ext cx="35661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88536" y="1280160"/>
            <a:ext cx="3566160" cy="8229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71416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Employer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71416" y="1920240"/>
            <a:ext cx="32004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same posting → find the new application → mark UNDER_REVIEW → ACCEPT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74152" y="1280160"/>
            <a:ext cx="35661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9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74152" y="1280160"/>
            <a:ext cx="3566160" cy="8229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57032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Back to the seeker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57032" y="1920240"/>
            <a:ext cx="32004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Applications now reads ACCEPTED — one platform, one round trip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977640"/>
            <a:ext cx="11137392" cy="86868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977640"/>
            <a:ext cx="91440" cy="8686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4069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locally: API on :3000 (Swagger UI at /docs) · web app on :5173 · seeded data — 3 companies, 12 postings.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5212080"/>
            <a:ext cx="11137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A56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are welcome during the demo.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37160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"/>
            <a:ext cx="77724" cy="7772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68580"/>
            <a:ext cx="9601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B8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0" y="23317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0" y="33832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A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welcome.</a:t>
            </a:r>
            <a:endParaRPr lang="en-US" sz="1900" dirty="0"/>
          </a:p>
        </p:txBody>
      </p:sp>
      <p:pic>
        <p:nvPicPr>
          <p:cNvPr id="10" name="Image 0" descr="C:\Users\Phung Dam Tien Si\Project\Bachelor Thesis\bachelor-thesis-paper\images\UST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888" y="438912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Defense — Recruitment Platform</dc:title>
  <dc:subject>PptxGenJS Presentation</dc:subject>
  <dc:creator>Phung Dam Tien Si</dc:creator>
  <cp:lastModifiedBy>Phung Dam Tien Si</cp:lastModifiedBy>
  <cp:revision>1</cp:revision>
  <dcterms:created xsi:type="dcterms:W3CDTF">2026-09-29T13:59:19Z</dcterms:created>
  <dcterms:modified xsi:type="dcterms:W3CDTF">2026-09-29T13:59:19Z</dcterms:modified>
</cp:coreProperties>
</file>